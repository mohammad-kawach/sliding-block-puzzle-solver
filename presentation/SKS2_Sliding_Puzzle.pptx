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E6FBE67-E6BC-426F-902E-C9DAFD44BE9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Title slide. Mention this is KS2.1 from Prof. Wolff's Seminar Cognitive Systems 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9B2BB0-1E74-4EA7-9734-DF51D14A581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the puzzle setup from the assignment sheet. Highlight that the blank is in the bottom-right of start and top-right of target. Both must count and display: expansions, max memory nodes, moves.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373B49-1E64-459B-9EFF-86585EB1392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BFS explores the tree level by level. Since every move costs 1, BFS is optimal. The tradeoff is memory — at depth 26 the frontier can be huge.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664E63-C940-48F9-A35D-275B464255F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A* orders the frontier by f(n) = g(n) + h(n). With an admissible heuristic it is optimal. Our heuristic is Manhattan distance.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9C5C92-80B1-40E0-A26C-F44C0E3107B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Manhattan distance for tile 8. Total h for the start state is the sum across all 8 tiles. Admissibility proof: each single move reduces one tile's Manhattan distance by at most 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3EAC43-7FBC-4584-8125-A9A873AB752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Read out the numbers. Stress: both find optimal 26-move solution, but A* does it with 88 expansions vs 160,147 for BFS. The heuristic guides A* and avoids exploring the bulk of the search space.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FB9CAB-77C7-4342-9035-255C8ADA5BF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the core discussion slide. Emphasize that the heuristic acts as a "compass" — BFS stumbles in the dark while A* walks confidently toward the goal.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7CC7C8-1691-49C0-BDC9-6F0023931A2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Conclude by summarizing the key takeaway: heuristics make the difference. A* is a better choice when a good admissible heuristic is available. Open the floor for questions.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85F596-5238-47E9-BAD2-ECB1F92F4C5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680960" y="-731520"/>
            <a:ext cx="2193480" cy="21934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138160" y="-274320"/>
            <a:ext cx="1279080" cy="127908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217920" y="146304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217920" y="146304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8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931080" y="146304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931080" y="146304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7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644240" y="146304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644240" y="146304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6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21792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21792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5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93108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93108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64424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64424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21792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217920" y="288936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93108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931080" y="288936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764424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796600" y="24688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2c39a"/>
                </a:solidFill>
                <a:latin typeface="Calibri"/>
              </a:rPr>
              <a:t>→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994320" y="146304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9994320" y="146304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0707480" y="146304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10707480" y="146304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9281160" y="146268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928116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928116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999432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999432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0707480" y="217620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10707480" y="217620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5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928116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9281160" y="288936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6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999432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9994320" y="288936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7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0707480" y="2889360"/>
            <a:ext cx="657360" cy="6573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10707480" y="2889360"/>
            <a:ext cx="657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1321"/>
                </a:solidFill>
                <a:latin typeface="Calibri"/>
                <a:ea typeface="Calibri"/>
              </a:rPr>
              <a:t>8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6217920" y="3703320"/>
            <a:ext cx="2083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b0"/>
                </a:solidFill>
                <a:latin typeface="Calibri"/>
                <a:ea typeface="Calibri"/>
              </a:rPr>
              <a:t>start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281160" y="3703320"/>
            <a:ext cx="2083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2b0"/>
                </a:solidFill>
                <a:latin typeface="Calibri"/>
                <a:ea typeface="Calibri"/>
              </a:rPr>
              <a:t>target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502920" y="41148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Seminar Cognitive Systems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502920" y="868680"/>
            <a:ext cx="557676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Sliding Block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Puzzle Solver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502920" y="2633400"/>
            <a:ext cx="539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BFS vs A* with Manhattan Distance Heuristic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502920" y="448056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2b0"/>
                </a:solidFill>
                <a:latin typeface="Calibri"/>
                <a:ea typeface="Calibri"/>
              </a:rPr>
              <a:t>BTU Cottbus-Senftenberg  ·  Problem KS2.1  ·  July 28,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1564560" y="5472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Problem Statement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502920" y="1152000"/>
            <a:ext cx="291600" cy="29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02920" y="112464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32760" y="1097280"/>
            <a:ext cx="452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d1321"/>
                </a:solidFill>
                <a:latin typeface="Calibri"/>
                <a:ea typeface="Calibri"/>
              </a:rPr>
              <a:t>3×3 sliding block puzzle with 8 numbered tiles and one blank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502920" y="1737360"/>
            <a:ext cx="291600" cy="29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502920" y="17100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32760" y="1682640"/>
            <a:ext cx="452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d1321"/>
                </a:solidFill>
                <a:latin typeface="Calibri"/>
                <a:ea typeface="Calibri"/>
              </a:rPr>
              <a:t>Tiles can only slide horizontally or vertically into the blank space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502920" y="2322720"/>
            <a:ext cx="291600" cy="29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02920" y="22950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932760" y="2267640"/>
            <a:ext cx="452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d1321"/>
                </a:solidFill>
                <a:latin typeface="Calibri"/>
                <a:ea typeface="Calibri"/>
              </a:rPr>
              <a:t>Goal: reach a specific target configuration in as few moves as possible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502920" y="2907720"/>
            <a:ext cx="291600" cy="29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02920" y="288036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932760" y="2853000"/>
            <a:ext cx="452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d1321"/>
                </a:solidFill>
                <a:latin typeface="Calibri"/>
                <a:ea typeface="Calibri"/>
              </a:rPr>
              <a:t>Must implement BFS (uninformed) and A* (informed with admissible heuristic)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502920" y="3493080"/>
            <a:ext cx="291600" cy="29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02920" y="346572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932760" y="3438000"/>
            <a:ext cx="45252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d1321"/>
                </a:solidFill>
                <a:latin typeface="Calibri"/>
                <a:ea typeface="Calibri"/>
              </a:rPr>
              <a:t>Track: node expansions · max nodes in memory · moves in solution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7461360" y="1216080"/>
            <a:ext cx="2358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Start State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6117120" y="3931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6117120" y="3931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6922080" y="3931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6922080" y="3931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7726680" y="3931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7726680" y="3931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117120" y="11977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117120" y="11977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922080" y="11977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6922080" y="11977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7726680" y="119772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7726680" y="119772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9"/>
          <p:cNvSpPr/>
          <p:nvPr/>
        </p:nvSpPr>
        <p:spPr>
          <a:xfrm>
            <a:off x="6117120" y="200268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6117120" y="200268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1"/>
          <p:cNvSpPr/>
          <p:nvPr/>
        </p:nvSpPr>
        <p:spPr>
          <a:xfrm>
            <a:off x="6922080" y="200268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6922080" y="2002680"/>
            <a:ext cx="3970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3"/>
          <p:cNvSpPr/>
          <p:nvPr/>
        </p:nvSpPr>
        <p:spPr>
          <a:xfrm>
            <a:off x="7726680" y="2002680"/>
            <a:ext cx="397080" cy="327600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4"/>
          <p:cNvSpPr/>
          <p:nvPr/>
        </p:nvSpPr>
        <p:spPr>
          <a:xfrm rot="5400000">
            <a:off x="7088040" y="2505960"/>
            <a:ext cx="1911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2c39a"/>
                </a:solidFill>
                <a:latin typeface="Calibri"/>
              </a:rPr>
              <a:t>→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7461360" y="3831480"/>
            <a:ext cx="2358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Target State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6"/>
          <p:cNvSpPr/>
          <p:nvPr/>
        </p:nvSpPr>
        <p:spPr>
          <a:xfrm>
            <a:off x="6922080" y="303588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6922080" y="3003840"/>
            <a:ext cx="397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8"/>
          <p:cNvSpPr/>
          <p:nvPr/>
        </p:nvSpPr>
        <p:spPr>
          <a:xfrm>
            <a:off x="7727040" y="303588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9"/>
          <p:cNvSpPr/>
          <p:nvPr/>
        </p:nvSpPr>
        <p:spPr>
          <a:xfrm>
            <a:off x="7727040" y="303588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6113160" y="303588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41"/>
          <p:cNvSpPr/>
          <p:nvPr/>
        </p:nvSpPr>
        <p:spPr>
          <a:xfrm>
            <a:off x="6117120" y="380844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2"/>
          <p:cNvSpPr/>
          <p:nvPr/>
        </p:nvSpPr>
        <p:spPr>
          <a:xfrm>
            <a:off x="6117120" y="380844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3"/>
          <p:cNvSpPr/>
          <p:nvPr/>
        </p:nvSpPr>
        <p:spPr>
          <a:xfrm>
            <a:off x="6922080" y="380844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6922080" y="380844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5"/>
          <p:cNvSpPr/>
          <p:nvPr/>
        </p:nvSpPr>
        <p:spPr>
          <a:xfrm>
            <a:off x="7726680" y="380844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6"/>
          <p:cNvSpPr/>
          <p:nvPr/>
        </p:nvSpPr>
        <p:spPr>
          <a:xfrm>
            <a:off x="7726680" y="380844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7"/>
          <p:cNvSpPr/>
          <p:nvPr/>
        </p:nvSpPr>
        <p:spPr>
          <a:xfrm>
            <a:off x="6117120" y="461340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8"/>
          <p:cNvSpPr/>
          <p:nvPr/>
        </p:nvSpPr>
        <p:spPr>
          <a:xfrm>
            <a:off x="6117120" y="461340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9"/>
          <p:cNvSpPr/>
          <p:nvPr/>
        </p:nvSpPr>
        <p:spPr>
          <a:xfrm>
            <a:off x="6922080" y="461340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50"/>
          <p:cNvSpPr/>
          <p:nvPr/>
        </p:nvSpPr>
        <p:spPr>
          <a:xfrm>
            <a:off x="6922080" y="461340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1"/>
          <p:cNvSpPr/>
          <p:nvPr/>
        </p:nvSpPr>
        <p:spPr>
          <a:xfrm>
            <a:off x="7726680" y="4613400"/>
            <a:ext cx="397080" cy="277560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52"/>
          <p:cNvSpPr/>
          <p:nvPr/>
        </p:nvSpPr>
        <p:spPr>
          <a:xfrm>
            <a:off x="7726680" y="4613400"/>
            <a:ext cx="3970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1321"/>
                </a:solidFill>
                <a:latin typeface="Calibri"/>
                <a:ea typeface="Calibri"/>
              </a:rPr>
              <a:t>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53"/>
          <p:cNvSpPr/>
          <p:nvPr/>
        </p:nvSpPr>
        <p:spPr>
          <a:xfrm>
            <a:off x="502920" y="4663440"/>
            <a:ext cx="8228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0"/>
                </a:solidFill>
                <a:latin typeface="Calibri"/>
                <a:ea typeface="Calibri"/>
              </a:rPr>
              <a:t>KS2.1 · Prof. Wolff · BTU Cottbus-Senftenberg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Breadth-First Search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02920" y="86868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Uninformed Search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02920" y="137160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658440" y="137160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Frontier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2331720" y="137160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FIFO queue (deque) — explores all nodes at depth d before d+1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502920" y="190188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658440" y="190188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Completeness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2331720" y="190188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Complete — will always find a solution if one exists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502920" y="243216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658440" y="243216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Optimality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2331720" y="243216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Optimal for unit-cost steps — shortest path guaranteed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502920" y="296280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658440" y="296280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Time complexity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2331720" y="296280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O(bᵈ) — exponential in solution depth 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02920" y="349308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658440" y="349308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Space complexity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2331720" y="349308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O(bᵈ) — must store all discovered states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02920" y="4023360"/>
            <a:ext cx="8228520" cy="437760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658440" y="4023360"/>
            <a:ext cx="1599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Key tradeoff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2331720" y="4023360"/>
            <a:ext cx="621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Finds optimal solution but consumes large memory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502920" y="4572000"/>
            <a:ext cx="8228520" cy="346320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502920" y="457200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Implementation: collections.deque  ·  No external search libraries used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A* Search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02920" y="86868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28090"/>
                </a:solidFill>
                <a:latin typeface="Calibri"/>
                <a:ea typeface="Calibri"/>
              </a:rPr>
              <a:t>Informed Search with Admissible Heuristic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02920" y="1325880"/>
            <a:ext cx="5073840" cy="95904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02920" y="1325880"/>
            <a:ext cx="50738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f(n)  =  g(n)  +  h(n)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685800" y="2423160"/>
            <a:ext cx="821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f(n):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554480" y="24231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total estimated cost of the path through 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85800" y="2880360"/>
            <a:ext cx="821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adcfc"/>
                </a:solidFill>
                <a:latin typeface="Cambria"/>
                <a:ea typeface="Cambria"/>
              </a:rPr>
              <a:t>g(n):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1554480" y="28803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exact cost (number of moves) from start to 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85800" y="3337560"/>
            <a:ext cx="821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mbria"/>
                <a:ea typeface="Cambria"/>
              </a:rPr>
              <a:t>h(n):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554480" y="33375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heuristic estimate from n to goal (admissible)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5806440" y="1325880"/>
            <a:ext cx="2925000" cy="565920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961960" y="136260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Frontier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961960" y="160020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321"/>
                </a:solidFill>
                <a:latin typeface="Calibri"/>
                <a:ea typeface="Calibri"/>
              </a:rPr>
              <a:t>Min-heap (heapq) ordered by f(n)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5806440" y="1984320"/>
            <a:ext cx="2925000" cy="565920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5961960" y="202068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Completeness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961960" y="225864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321"/>
                </a:solidFill>
                <a:latin typeface="Calibri"/>
                <a:ea typeface="Calibri"/>
              </a:rPr>
              <a:t>Complete with admissible heuristic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5806440" y="2642760"/>
            <a:ext cx="2925000" cy="565920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5961960" y="267912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Optimality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5961960" y="291708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321"/>
                </a:solidFill>
                <a:latin typeface="Calibri"/>
                <a:ea typeface="Calibri"/>
              </a:rPr>
              <a:t>Optimal — never overestimates cost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806440" y="3300840"/>
            <a:ext cx="2925000" cy="565920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5961960" y="333756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Efficiency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5961960" y="357516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321"/>
                </a:solidFill>
                <a:latin typeface="Calibri"/>
                <a:ea typeface="Calibri"/>
              </a:rPr>
              <a:t>Expands far fewer nodes than BFS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5806440" y="3959280"/>
            <a:ext cx="2925000" cy="565920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5961960" y="399600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Implementation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5961960" y="423360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1321"/>
                </a:solidFill>
                <a:latin typeface="Calibri"/>
                <a:ea typeface="Calibri"/>
              </a:rPr>
              <a:t>heapq  ·  No external libraries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Admissible Heuristic: Manhattan Distance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502920" y="1005840"/>
            <a:ext cx="5119560" cy="68472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502920" y="1005840"/>
            <a:ext cx="51195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h(n) = Σ |rowᵢ − row*ᵢ| + |colᵢ − col*ᵢ|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502920" y="1956960"/>
            <a:ext cx="273240" cy="273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502920" y="192924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321"/>
                </a:solidFill>
                <a:latin typeface="Arial"/>
                <a:ea typeface="Arial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914400" y="1874520"/>
            <a:ext cx="4570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Each move shifts one tile exactly one step (row or column)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502920" y="2468880"/>
            <a:ext cx="273240" cy="273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502920" y="244152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321"/>
                </a:solidFill>
                <a:latin typeface="Arial"/>
                <a:ea typeface="Arial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914400" y="2386440"/>
            <a:ext cx="4570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Manhattan distance counts the minimum moves for each tile ignoring others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502920" y="2980800"/>
            <a:ext cx="273240" cy="273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502920" y="295344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321"/>
                </a:solidFill>
                <a:latin typeface="Arial"/>
                <a:ea typeface="Arial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914400" y="2898720"/>
            <a:ext cx="4570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It never overestimates actual moves → h(n) ≤ h*(n) → Admissible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502920" y="3493080"/>
            <a:ext cx="273240" cy="2732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502920" y="346572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321"/>
                </a:solidFill>
                <a:latin typeface="Arial"/>
                <a:ea typeface="Arial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914400" y="3410640"/>
            <a:ext cx="4570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d1321"/>
                </a:solidFill>
                <a:latin typeface="Calibri"/>
                <a:ea typeface="Calibri"/>
              </a:rPr>
              <a:t>Blank tile is excluded (it is not numbered and has no fixed goal position)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5"/>
          <p:cNvSpPr/>
          <p:nvPr/>
        </p:nvSpPr>
        <p:spPr>
          <a:xfrm>
            <a:off x="5760720" y="914400"/>
            <a:ext cx="2970720" cy="374796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5897880" y="1005840"/>
            <a:ext cx="2696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Example: Tile 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5989320" y="146304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5989320" y="146304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6528960" y="146304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6528960" y="146304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1"/>
          <p:cNvSpPr/>
          <p:nvPr/>
        </p:nvSpPr>
        <p:spPr>
          <a:xfrm>
            <a:off x="7068240" y="146304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7068240" y="146304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5989320" y="200268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5989320" y="200268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5"/>
          <p:cNvSpPr/>
          <p:nvPr/>
        </p:nvSpPr>
        <p:spPr>
          <a:xfrm>
            <a:off x="6528960" y="200268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6528960" y="200268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7"/>
          <p:cNvSpPr/>
          <p:nvPr/>
        </p:nvSpPr>
        <p:spPr>
          <a:xfrm>
            <a:off x="7068240" y="200268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7068240" y="200268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9"/>
          <p:cNvSpPr/>
          <p:nvPr/>
        </p:nvSpPr>
        <p:spPr>
          <a:xfrm>
            <a:off x="5989320" y="254196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30"/>
          <p:cNvSpPr/>
          <p:nvPr/>
        </p:nvSpPr>
        <p:spPr>
          <a:xfrm>
            <a:off x="5989320" y="254196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1"/>
          <p:cNvSpPr/>
          <p:nvPr/>
        </p:nvSpPr>
        <p:spPr>
          <a:xfrm>
            <a:off x="6528960" y="254196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32"/>
          <p:cNvSpPr/>
          <p:nvPr/>
        </p:nvSpPr>
        <p:spPr>
          <a:xfrm>
            <a:off x="6528960" y="254196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3"/>
          <p:cNvSpPr/>
          <p:nvPr/>
        </p:nvSpPr>
        <p:spPr>
          <a:xfrm>
            <a:off x="7068240" y="2541960"/>
            <a:ext cx="501840" cy="50184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4"/>
          <p:cNvSpPr/>
          <p:nvPr/>
        </p:nvSpPr>
        <p:spPr>
          <a:xfrm>
            <a:off x="5897880" y="3154680"/>
            <a:ext cx="269640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Tile 8 is at (0,0) in start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Goal position is (1,2)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|0−2| + |0−2| = 1 + 2 = 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5"/>
          <p:cNvSpPr/>
          <p:nvPr/>
        </p:nvSpPr>
        <p:spPr>
          <a:xfrm>
            <a:off x="502920" y="46177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0"/>
                </a:solidFill>
                <a:latin typeface="Calibri"/>
                <a:ea typeface="Calibri"/>
              </a:rPr>
              <a:t>Also implemented: Misplaced Tiles heuristic (weaker, fewer nodes than BFS but more than Manhattan)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Experimental Results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02920" y="86868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2c39a"/>
                </a:solidFill>
                <a:latin typeface="Calibri"/>
                <a:ea typeface="Calibri"/>
              </a:rPr>
              <a:t>Assignment puzzle  ·  python3 main.py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502920" y="1325880"/>
            <a:ext cx="2284920" cy="383040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502920" y="132588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2880360" y="1325880"/>
            <a:ext cx="1827720" cy="383040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2880360" y="1325880"/>
            <a:ext cx="18277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Heuristic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4800600" y="1325880"/>
            <a:ext cx="1416240" cy="383040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800600" y="132588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Expansions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6291000" y="1325880"/>
            <a:ext cx="1416240" cy="383040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291000" y="1325880"/>
            <a:ext cx="1416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Max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7781400" y="1325880"/>
            <a:ext cx="950040" cy="383040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7781400" y="1325880"/>
            <a:ext cx="950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Moves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502920" y="1783080"/>
            <a:ext cx="8228520" cy="547560"/>
          </a:xfrm>
          <a:prstGeom prst="roundRect">
            <a:avLst>
              <a:gd name="adj" fmla="val 11667"/>
            </a:avLst>
          </a:prstGeom>
          <a:solidFill>
            <a:srgbClr val="1e2444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502920" y="1783080"/>
            <a:ext cx="2284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Breadth-First Search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2880360" y="1783080"/>
            <a:ext cx="1827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—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4800600" y="1783080"/>
            <a:ext cx="141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160,147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6"/>
          <p:cNvSpPr/>
          <p:nvPr/>
        </p:nvSpPr>
        <p:spPr>
          <a:xfrm>
            <a:off x="6291000" y="1783080"/>
            <a:ext cx="141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172,568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7781400" y="1783080"/>
            <a:ext cx="950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28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8"/>
          <p:cNvSpPr/>
          <p:nvPr/>
        </p:nvSpPr>
        <p:spPr>
          <a:xfrm>
            <a:off x="502920" y="2423160"/>
            <a:ext cx="8228520" cy="54756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502920" y="2423160"/>
            <a:ext cx="2284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A* Search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2880360" y="2423160"/>
            <a:ext cx="1827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Manhattan distance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4800600" y="2423160"/>
            <a:ext cx="141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88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22"/>
          <p:cNvSpPr/>
          <p:nvPr/>
        </p:nvSpPr>
        <p:spPr>
          <a:xfrm>
            <a:off x="6291000" y="2423160"/>
            <a:ext cx="1416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136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7781400" y="2423160"/>
            <a:ext cx="950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28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1280160" y="3154680"/>
            <a:ext cx="2102040" cy="132480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5"/>
          <p:cNvSpPr/>
          <p:nvPr/>
        </p:nvSpPr>
        <p:spPr>
          <a:xfrm>
            <a:off x="1280160" y="326448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2c39a"/>
                </a:solidFill>
                <a:latin typeface="Cambria"/>
                <a:ea typeface="Cambria"/>
              </a:rPr>
              <a:t>1,820×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6"/>
          <p:cNvSpPr/>
          <p:nvPr/>
        </p:nvSpPr>
        <p:spPr>
          <a:xfrm>
            <a:off x="1280160" y="3904560"/>
            <a:ext cx="21020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fewer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expansions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7"/>
          <p:cNvSpPr/>
          <p:nvPr/>
        </p:nvSpPr>
        <p:spPr>
          <a:xfrm>
            <a:off x="3931920" y="3154680"/>
            <a:ext cx="2102040" cy="132480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8"/>
          <p:cNvSpPr/>
          <p:nvPr/>
        </p:nvSpPr>
        <p:spPr>
          <a:xfrm>
            <a:off x="3931920" y="326448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adcfc"/>
                </a:solidFill>
                <a:latin typeface="Cambria"/>
                <a:ea typeface="Cambria"/>
              </a:rPr>
              <a:t>1,268×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3931920" y="3904560"/>
            <a:ext cx="21020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less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30"/>
          <p:cNvSpPr/>
          <p:nvPr/>
        </p:nvSpPr>
        <p:spPr>
          <a:xfrm>
            <a:off x="6583680" y="3154680"/>
            <a:ext cx="2102040" cy="132480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1"/>
          <p:cNvSpPr/>
          <p:nvPr/>
        </p:nvSpPr>
        <p:spPr>
          <a:xfrm>
            <a:off x="6583680" y="3264480"/>
            <a:ext cx="21020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28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32"/>
          <p:cNvSpPr/>
          <p:nvPr/>
        </p:nvSpPr>
        <p:spPr>
          <a:xfrm>
            <a:off x="6583680" y="3904560"/>
            <a:ext cx="21020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moves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Calibri"/>
                <a:ea typeface="Calibri"/>
              </a:rPr>
              <a:t>(both)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Discussion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502920" y="868680"/>
            <a:ext cx="8228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28090"/>
                </a:solidFill>
                <a:latin typeface="Calibri"/>
                <a:ea typeface="Calibri"/>
              </a:rPr>
              <a:t>Why does A* expand ~1,820× fewer nodes than BFS?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502920" y="1417320"/>
            <a:ext cx="8228520" cy="712080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594360" y="1609200"/>
            <a:ext cx="327960" cy="327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594360" y="158184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051560" y="1472040"/>
            <a:ext cx="667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BFS is blind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051560" y="1746360"/>
            <a:ext cx="66740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Without a heuristic, BFS must explore all states at each depth level. At depth 28 the frontier can hold tens of thousands of states simultaneously.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502920" y="2221920"/>
            <a:ext cx="8228520" cy="712080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594360" y="2414160"/>
            <a:ext cx="327960" cy="327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94360" y="238644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051560" y="2277000"/>
            <a:ext cx="667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Manhattan distance is tightly informed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1051560" y="2551320"/>
            <a:ext cx="66740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The heuristic closely mirrors the true cost — almost every state it evaluates is on or near the optimal path, so very few dead-end branches are expanded.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502920" y="3026520"/>
            <a:ext cx="8228520" cy="712080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594360" y="3218760"/>
            <a:ext cx="327960" cy="327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594360" y="319140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051560" y="3081600"/>
            <a:ext cx="667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Same optimal result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1051560" y="3355920"/>
            <a:ext cx="66740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Both algorithms return a 28-move solution. A* achieves this with 88 expansions; admissibility guarantees no shorter path exists.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502920" y="3831480"/>
            <a:ext cx="8228520" cy="712080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594360" y="4023360"/>
            <a:ext cx="327960" cy="327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594360" y="399600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1051560" y="3886200"/>
            <a:ext cx="6674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Memory advantage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1051560" y="4160520"/>
            <a:ext cx="66740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d1321"/>
                </a:solidFill>
                <a:latin typeface="Calibri"/>
                <a:ea typeface="Calibri"/>
              </a:rPr>
              <a:t>A* keeps only 136 nodes in memory vs 172,568 for BFS — a direct consequence of fewer branches explored.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-822960" y="3474720"/>
            <a:ext cx="2742120" cy="27421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502920" y="32004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Summary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502920" y="1143000"/>
            <a:ext cx="8137080" cy="54756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594360" y="1143000"/>
            <a:ext cx="456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1143000" y="11430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Implemented BFS and A* from scratch using only Python standard library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502920" y="1801440"/>
            <a:ext cx="8137080" cy="54756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594360" y="1801440"/>
            <a:ext cx="456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📐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1143000" y="180144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Manhattan distance is admissible → A* guaranteed to find optimal solution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502920" y="2459880"/>
            <a:ext cx="8137080" cy="54756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594360" y="2459880"/>
            <a:ext cx="456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1143000" y="245988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A* expands 1,820× fewer nodes and holds 1,268× less memory than BFS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502920" y="3117960"/>
            <a:ext cx="8137080" cy="54756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2"/>
          <p:cNvSpPr/>
          <p:nvPr/>
        </p:nvSpPr>
        <p:spPr>
          <a:xfrm>
            <a:off x="594360" y="3117960"/>
            <a:ext cx="456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🏁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1143000" y="311796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Both algorithms find the same 26-move optimal solution path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4"/>
          <p:cNvSpPr/>
          <p:nvPr/>
        </p:nvSpPr>
        <p:spPr>
          <a:xfrm>
            <a:off x="502920" y="3776400"/>
            <a:ext cx="8137080" cy="54756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594360" y="3776400"/>
            <a:ext cx="456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1143000" y="37764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Informed search is dramatically more efficient for complex state spaces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502920" y="452628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2c39a"/>
                </a:solidFill>
                <a:latin typeface="Cambria"/>
                <a:ea typeface="Cambria"/>
              </a:rPr>
              <a:t>Thank you  ·  Questions?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989</Words>
  <Paragraphs>180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2026-07-24T09:49:14Z</dcterms:created>
  <dc:creator>PptxGenJS</dc:creator>
  <dc:description/>
  <dc:language>en-US</dc:language>
  <cp:lastModifiedBy/>
  <dcterms:modified xsi:type="dcterms:W3CDTF">2026-07-26T17:20:25Z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